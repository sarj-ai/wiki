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16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2000"/>
              </a:lnSpc>
              <a:buNone/>
            </a:pPr>
            <a:r>
              <a:rPr lang="en-US" sz="1400" b="1">
                <a:solidFill>
                  <a:srgbClr val="D9CDEB"/>
                </a:solidFill>
                <a:latin typeface="Nunito Sans"/>
              </a:rPr>
              <a:t>NORTHSTAR  /  KICKOFF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548640" y="1234440"/>
            <a:ext cx="1078992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2000"/>
              </a:lnSpc>
              <a:buNone/>
            </a:pPr>
            <a:r>
              <a:rPr lang="en-US" sz="4200" b="1">
                <a:solidFill>
                  <a:srgbClr val="FFFFFF"/>
                </a:solidFill>
                <a:latin typeface="Nunito Sans"/>
              </a:rPr>
              <a:t>Make the first</a:t>
            </a:r>
            <a:endParaRPr lang="en-US"/>
          </a:p>
          <a:p>
            <a:pPr>
              <a:lnSpc>
                <a:spcPct val="112000"/>
              </a:lnSpc>
              <a:buNone/>
            </a:pPr>
            <a:r>
              <a:rPr lang="en-US" sz="4200" b="1">
                <a:solidFill>
                  <a:srgbClr val="FFFFFF"/>
                </a:solidFill>
                <a:latin typeface="Nunito Sans"/>
              </a:rPr>
              <a:t>ten minutes count.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594360" y="333756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2000"/>
              </a:lnSpc>
              <a:buNone/>
            </a:pPr>
            <a:r>
              <a:rPr lang="en-US" sz="2400" b="0">
                <a:solidFill>
                  <a:srgbClr val="D9CDEB"/>
                </a:solidFill>
                <a:latin typeface="Nunito Sans"/>
              </a:rPr>
              <a:t>A simpler path from signup to a useful result.</a:t>
            </a:r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594360" y="470916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2000"/>
              </a:lnSpc>
              <a:buNone/>
            </a:pPr>
            <a:r>
              <a:rPr lang="en-US" sz="2000" b="0">
                <a:solidFill>
                  <a:srgbClr val="FFFFFF"/>
                </a:solidFill>
                <a:latin typeface="Nunito Sans"/>
              </a:rPr>
              <a:t>50 pilot accounts     |     24 November 2026     |     $18,400</a:t>
            </a:r>
            <a:endParaRPr lang="en-US"/>
          </a:p>
        </p:txBody>
      </p:sp>
      <p:sp>
        <p:nvSpPr>
          <p:cNvPr id="30" name="Text 30"/>
          <p:cNvSpPr txBox="1"/>
          <p:nvPr/>
        </p:nvSpPr>
        <p:spPr>
          <a:xfrm>
            <a:off x="594360" y="63550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2000"/>
              </a:lnSpc>
              <a:buNone/>
            </a:pPr>
            <a:r>
              <a:rPr lang="en-US" sz="1000" b="0">
                <a:solidFill>
                  <a:srgbClr val="D9CDEB"/>
                </a:solidFill>
                <a:latin typeface="Nunito Sans"/>
              </a:rPr>
              <a:t>Northstar  ·  Synthetic demo content                                                1 / 4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41148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2000"/>
              </a:lnSpc>
              <a:buNone/>
            </a:pPr>
            <a:r>
              <a:rPr lang="en-US" sz="1300" b="1">
                <a:solidFill>
                  <a:srgbClr val="696272"/>
                </a:solidFill>
                <a:latin typeface="Nunito Sans"/>
              </a:rPr>
              <a:t>01  /  SUCCESS MEASURES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548640" y="100584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2000"/>
              </a:lnSpc>
              <a:buNone/>
            </a:pPr>
            <a:r>
              <a:rPr lang="en-US" sz="3600" b="1">
                <a:solidFill>
                  <a:srgbClr val="2B165E"/>
                </a:solidFill>
                <a:latin typeface="Nunito Sans"/>
              </a:rPr>
              <a:t>A useful result, sooner.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594360" y="2514600"/>
            <a:ext cx="347472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2000"/>
              </a:lnSpc>
              <a:buNone/>
            </a:pPr>
            <a:r>
              <a:rPr lang="en-US" sz="2400" b="1">
                <a:solidFill>
                  <a:srgbClr val="2B165E"/>
                </a:solidFill>
                <a:latin typeface="Nunito Sans"/>
              </a:rPr>
              <a:t>Setup completion</a:t>
            </a:r>
            <a:endParaRPr lang="en-US"/>
          </a:p>
          <a:p>
            <a:pPr>
              <a:lnSpc>
                <a:spcPct val="112000"/>
              </a:lnSpc>
              <a:buNone/>
            </a:pPr>
            <a:r>
              <a:rPr lang="en-US" sz="2400" b="1">
                <a:solidFill>
                  <a:srgbClr val="2B165E"/>
                </a:solidFill>
                <a:latin typeface="Nunito Sans"/>
              </a:rPr>
              <a:t>70% → 90%</a:t>
            </a:r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4297680" y="2514600"/>
            <a:ext cx="347472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2000"/>
              </a:lnSpc>
              <a:buNone/>
            </a:pPr>
            <a:r>
              <a:rPr lang="en-US" sz="2400" b="1">
                <a:solidFill>
                  <a:srgbClr val="2B165E"/>
                </a:solidFill>
                <a:latin typeface="Nunito Sans"/>
              </a:rPr>
              <a:t>Week-one activation</a:t>
            </a:r>
            <a:endParaRPr lang="en-US"/>
          </a:p>
          <a:p>
            <a:pPr>
              <a:lnSpc>
                <a:spcPct val="112000"/>
              </a:lnSpc>
              <a:buNone/>
            </a:pPr>
            <a:r>
              <a:rPr lang="en-US" sz="2400" b="1">
                <a:solidFill>
                  <a:srgbClr val="2B165E"/>
                </a:solidFill>
                <a:latin typeface="Nunito Sans"/>
              </a:rPr>
              <a:t>42% → 60%</a:t>
            </a:r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7955280" y="2514600"/>
            <a:ext cx="347472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2000"/>
              </a:lnSpc>
              <a:buNone/>
            </a:pPr>
            <a:r>
              <a:rPr lang="en-US" sz="2400" b="1">
                <a:solidFill>
                  <a:srgbClr val="2B165E"/>
                </a:solidFill>
                <a:latin typeface="Nunito Sans"/>
              </a:rPr>
              <a:t>First value</a:t>
            </a:r>
            <a:endParaRPr lang="en-US"/>
          </a:p>
          <a:p>
            <a:pPr>
              <a:lnSpc>
                <a:spcPct val="112000"/>
              </a:lnSpc>
              <a:buNone/>
            </a:pPr>
            <a:r>
              <a:rPr lang="en-US" sz="2400" b="1">
                <a:solidFill>
                  <a:srgbClr val="2B165E"/>
                </a:solidFill>
                <a:latin typeface="Nunito Sans"/>
              </a:rPr>
              <a:t>Under 10 minutes</a:t>
            </a:r>
            <a:endParaRPr lang="en-US"/>
          </a:p>
        </p:txBody>
      </p:sp>
      <p:sp>
        <p:nvSpPr>
          <p:cNvPr id="7" name="Text 7"/>
          <p:cNvSpPr txBox="1"/>
          <p:nvPr/>
        </p:nvSpPr>
        <p:spPr>
          <a:xfrm>
            <a:off x="594360" y="4663440"/>
            <a:ext cx="1069848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2000"/>
              </a:lnSpc>
              <a:buNone/>
            </a:pPr>
            <a:r>
              <a:rPr lang="en-US" sz="2100" b="0">
                <a:solidFill>
                  <a:srgbClr val="25212E"/>
                </a:solidFill>
                <a:latin typeface="Nunito Sans"/>
              </a:rPr>
              <a:t>Three guided setup steps. A useful sample workspace. Clear support signals.</a:t>
            </a:r>
            <a:endParaRPr lang="en-US"/>
          </a:p>
        </p:txBody>
      </p:sp>
      <p:sp>
        <p:nvSpPr>
          <p:cNvPr id="30" name="Text 30"/>
          <p:cNvSpPr txBox="1"/>
          <p:nvPr/>
        </p:nvSpPr>
        <p:spPr>
          <a:xfrm>
            <a:off x="594360" y="63550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2000"/>
              </a:lnSpc>
              <a:buNone/>
            </a:pPr>
            <a:r>
              <a:rPr lang="en-US" sz="1000" b="0">
                <a:solidFill>
                  <a:srgbClr val="696272"/>
                </a:solidFill>
                <a:latin typeface="Nunito Sans"/>
              </a:rPr>
              <a:t>Northstar  ·  Synthetic demo content                                                2 / 4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41148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2000"/>
              </a:lnSpc>
              <a:buNone/>
            </a:pPr>
            <a:r>
              <a:rPr lang="en-US" sz="1300" b="1">
                <a:solidFill>
                  <a:srgbClr val="696272"/>
                </a:solidFill>
                <a:latin typeface="Nunito Sans"/>
              </a:rPr>
              <a:t>02  /  ROLLOUT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548640" y="100584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2000"/>
              </a:lnSpc>
              <a:buNone/>
            </a:pPr>
            <a:r>
              <a:rPr lang="en-US" sz="3600" b="1">
                <a:solidFill>
                  <a:srgbClr val="2B165E"/>
                </a:solidFill>
                <a:latin typeface="Nunito Sans"/>
              </a:rPr>
              <a:t>Small pilot. Clear checkpoints.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594360" y="2560320"/>
            <a:ext cx="2560320" cy="2194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2000"/>
              </a:lnSpc>
              <a:buNone/>
            </a:pPr>
            <a:r>
              <a:rPr lang="en-US" sz="2000" b="1">
                <a:solidFill>
                  <a:srgbClr val="2B165E"/>
                </a:solidFill>
                <a:latin typeface="Nunito Sans"/>
              </a:rPr>
              <a:t>2 Nov</a:t>
            </a:r>
            <a:endParaRPr lang="en-US"/>
          </a:p>
          <a:p>
            <a:pPr>
              <a:lnSpc>
                <a:spcPct val="112000"/>
              </a:lnSpc>
              <a:buNone/>
            </a:pPr>
            <a:r>
              <a:rPr lang="en-US" sz="2000" b="1">
                <a:solidFill>
                  <a:srgbClr val="2B165E"/>
                </a:solidFill>
                <a:latin typeface="Nunito Sans"/>
              </a:rPr>
              <a:t>Pilot scope approved</a:t>
            </a:r>
            <a:endParaRPr lang="en-US"/>
          </a:p>
          <a:p>
            <a:pPr>
              <a:lnSpc>
                <a:spcPct val="112000"/>
              </a:lnSpc>
              <a:buNone/>
            </a:pPr>
            <a:r>
              <a:rPr lang="en-US" sz="2000" b="1">
                <a:solidFill>
                  <a:srgbClr val="2B165E"/>
                </a:solidFill>
                <a:latin typeface="Nunito Sans"/>
              </a:rPr>
              <a:t>Maya Chen</a:t>
            </a:r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3447288" y="2560320"/>
            <a:ext cx="2560320" cy="2194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2000"/>
              </a:lnSpc>
              <a:buNone/>
            </a:pPr>
            <a:r>
              <a:rPr lang="en-US" sz="2000" b="1">
                <a:solidFill>
                  <a:srgbClr val="2B165E"/>
                </a:solidFill>
                <a:latin typeface="Nunito Sans"/>
              </a:rPr>
              <a:t>9 Nov</a:t>
            </a:r>
            <a:endParaRPr lang="en-US"/>
          </a:p>
          <a:p>
            <a:pPr>
              <a:lnSpc>
                <a:spcPct val="112000"/>
              </a:lnSpc>
              <a:buNone/>
            </a:pPr>
            <a:r>
              <a:rPr lang="en-US" sz="2000" b="1">
                <a:solidFill>
                  <a:srgbClr val="2B165E"/>
                </a:solidFill>
                <a:latin typeface="Nunito Sans"/>
              </a:rPr>
              <a:t>Prototype review</a:t>
            </a:r>
            <a:endParaRPr lang="en-US"/>
          </a:p>
          <a:p>
            <a:pPr>
              <a:lnSpc>
                <a:spcPct val="112000"/>
              </a:lnSpc>
              <a:buNone/>
            </a:pPr>
            <a:r>
              <a:rPr lang="en-US" sz="2000" b="1">
                <a:solidFill>
                  <a:srgbClr val="2B165E"/>
                </a:solidFill>
                <a:latin typeface="Nunito Sans"/>
              </a:rPr>
              <a:t>Luca Reed</a:t>
            </a:r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6300216" y="2560320"/>
            <a:ext cx="2560320" cy="2194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2000"/>
              </a:lnSpc>
              <a:buNone/>
            </a:pPr>
            <a:r>
              <a:rPr lang="en-US" sz="2000" b="1">
                <a:solidFill>
                  <a:srgbClr val="2B165E"/>
                </a:solidFill>
                <a:latin typeface="Nunito Sans"/>
              </a:rPr>
              <a:t>16 Nov</a:t>
            </a:r>
            <a:endParaRPr lang="en-US"/>
          </a:p>
          <a:p>
            <a:pPr>
              <a:lnSpc>
                <a:spcPct val="112000"/>
              </a:lnSpc>
              <a:buNone/>
            </a:pPr>
            <a:r>
              <a:rPr lang="en-US" sz="2000" b="1">
                <a:solidFill>
                  <a:srgbClr val="2B165E"/>
                </a:solidFill>
                <a:latin typeface="Nunito Sans"/>
              </a:rPr>
              <a:t>50-account pilot</a:t>
            </a:r>
            <a:endParaRPr lang="en-US"/>
          </a:p>
          <a:p>
            <a:pPr>
              <a:lnSpc>
                <a:spcPct val="112000"/>
              </a:lnSpc>
              <a:buNone/>
            </a:pPr>
            <a:r>
              <a:rPr lang="en-US" sz="2000" b="1">
                <a:solidFill>
                  <a:srgbClr val="2B165E"/>
                </a:solidFill>
                <a:latin typeface="Nunito Sans"/>
              </a:rPr>
              <a:t>Sam Rivera</a:t>
            </a:r>
            <a:endParaRPr lang="en-US"/>
          </a:p>
        </p:txBody>
      </p:sp>
      <p:sp>
        <p:nvSpPr>
          <p:cNvPr id="7" name="Text 7"/>
          <p:cNvSpPr txBox="1"/>
          <p:nvPr/>
        </p:nvSpPr>
        <p:spPr>
          <a:xfrm>
            <a:off x="9153144" y="2560320"/>
            <a:ext cx="2560320" cy="2194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2000"/>
              </a:lnSpc>
              <a:buNone/>
            </a:pPr>
            <a:r>
              <a:rPr lang="en-US" sz="2000" b="1">
                <a:solidFill>
                  <a:srgbClr val="2B165E"/>
                </a:solidFill>
                <a:latin typeface="Nunito Sans"/>
              </a:rPr>
              <a:t>24 Nov</a:t>
            </a:r>
            <a:endParaRPr lang="en-US"/>
          </a:p>
          <a:p>
            <a:pPr>
              <a:lnSpc>
                <a:spcPct val="112000"/>
              </a:lnSpc>
              <a:buNone/>
            </a:pPr>
            <a:r>
              <a:rPr lang="en-US" sz="2000" b="1">
                <a:solidFill>
                  <a:srgbClr val="2B165E"/>
                </a:solidFill>
                <a:latin typeface="Nunito Sans"/>
              </a:rPr>
              <a:t>General availability</a:t>
            </a:r>
            <a:endParaRPr lang="en-US"/>
          </a:p>
          <a:p>
            <a:pPr>
              <a:lnSpc>
                <a:spcPct val="112000"/>
              </a:lnSpc>
              <a:buNone/>
            </a:pPr>
            <a:r>
              <a:rPr lang="en-US" sz="2000" b="1">
                <a:solidFill>
                  <a:srgbClr val="2B165E"/>
                </a:solidFill>
                <a:latin typeface="Nunito Sans"/>
              </a:rPr>
              <a:t>Maya Chen</a:t>
            </a:r>
            <a:endParaRPr lang="en-US"/>
          </a:p>
        </p:txBody>
      </p:sp>
      <p:sp>
        <p:nvSpPr>
          <p:cNvPr id="8" name="Text 8"/>
          <p:cNvSpPr txBox="1"/>
          <p:nvPr/>
        </p:nvSpPr>
        <p:spPr>
          <a:xfrm>
            <a:off x="594360" y="5120640"/>
            <a:ext cx="1069848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2000"/>
              </a:lnSpc>
              <a:buNone/>
            </a:pPr>
            <a:r>
              <a:rPr lang="en-US" sz="1900" b="0">
                <a:solidFill>
                  <a:srgbClr val="25212E"/>
                </a:solidFill>
                <a:latin typeface="Nunito Sans"/>
              </a:rPr>
              <a:t>Keep the current onboarding path available until the pilot is complete.</a:t>
            </a:r>
            <a:endParaRPr lang="en-US"/>
          </a:p>
        </p:txBody>
      </p:sp>
      <p:sp>
        <p:nvSpPr>
          <p:cNvPr id="30" name="Text 30"/>
          <p:cNvSpPr txBox="1"/>
          <p:nvPr/>
        </p:nvSpPr>
        <p:spPr>
          <a:xfrm>
            <a:off x="594360" y="63550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2000"/>
              </a:lnSpc>
              <a:buNone/>
            </a:pPr>
            <a:r>
              <a:rPr lang="en-US" sz="1000" b="0">
                <a:solidFill>
                  <a:srgbClr val="696272"/>
                </a:solidFill>
                <a:latin typeface="Nunito Sans"/>
              </a:rPr>
              <a:t>Northstar  ·  Synthetic demo content                                                3 / 4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41148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2000"/>
              </a:lnSpc>
              <a:buNone/>
            </a:pPr>
            <a:r>
              <a:rPr lang="en-US" sz="1300" b="1">
                <a:solidFill>
                  <a:srgbClr val="696272"/>
                </a:solidFill>
                <a:latin typeface="Nunito Sans"/>
              </a:rPr>
              <a:t>03  /  DECISION</a:t>
            </a:r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548640" y="100584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2000"/>
              </a:lnSpc>
              <a:buNone/>
            </a:pPr>
            <a:r>
              <a:rPr lang="en-US" sz="3600" b="1">
                <a:solidFill>
                  <a:srgbClr val="2B165E"/>
                </a:solidFill>
                <a:latin typeface="Nunito Sans"/>
              </a:rPr>
              <a:t>Approve the pilot scope.</a:t>
            </a:r>
            <a:endParaRPr lang="en-US"/>
          </a:p>
        </p:txBody>
      </p:sp>
      <p:sp>
        <p:nvSpPr>
          <p:cNvPr id="4" name="Text 4"/>
          <p:cNvSpPr txBox="1"/>
          <p:nvPr/>
        </p:nvSpPr>
        <p:spPr>
          <a:xfrm>
            <a:off x="594360" y="2423160"/>
            <a:ext cx="6400800" cy="2103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2000"/>
              </a:lnSpc>
              <a:buNone/>
            </a:pPr>
            <a:r>
              <a:rPr lang="en-US" sz="2700" b="1">
                <a:solidFill>
                  <a:srgbClr val="2B165E"/>
                </a:solidFill>
                <a:latin typeface="Nunito Sans"/>
              </a:rPr>
              <a:t>By 2 November</a:t>
            </a:r>
            <a:endParaRPr lang="en-US"/>
          </a:p>
          <a:p>
            <a:pPr>
              <a:lnSpc>
                <a:spcPct val="112000"/>
              </a:lnSpc>
              <a:buNone/>
            </a:pPr>
            <a:r>
              <a:rPr lang="en-US" sz="2700" b="1">
                <a:solidFill>
                  <a:srgbClr val="2B165E"/>
                </a:solidFill>
                <a:latin typeface="Nunito Sans"/>
              </a:rPr>
              <a:t>50 customer accounts</a:t>
            </a:r>
            <a:endParaRPr lang="en-US"/>
          </a:p>
          <a:p>
            <a:pPr>
              <a:lnSpc>
                <a:spcPct val="112000"/>
              </a:lnSpc>
              <a:buNone/>
            </a:pPr>
            <a:r>
              <a:rPr lang="en-US" sz="2700" b="1">
                <a:solidFill>
                  <a:srgbClr val="2B165E"/>
                </a:solidFill>
                <a:latin typeface="Nunito Sans"/>
              </a:rPr>
              <a:t>$18,400 planned investment</a:t>
            </a:r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7406640" y="2468880"/>
            <a:ext cx="365760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2000"/>
              </a:lnSpc>
              <a:buNone/>
            </a:pPr>
            <a:r>
              <a:rPr lang="en-US" sz="2100" b="0">
                <a:solidFill>
                  <a:srgbClr val="25212E"/>
                </a:solidFill>
                <a:latin typeface="Nunito Sans"/>
              </a:rPr>
              <a:t>If pilot activation is below 60%, extend the pilot rather than widen the rollout.</a:t>
            </a:r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594360" y="507492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2000"/>
              </a:lnSpc>
              <a:buNone/>
            </a:pPr>
            <a:r>
              <a:rPr lang="en-US" sz="1800" b="0">
                <a:solidFill>
                  <a:srgbClr val="25212E"/>
                </a:solidFill>
                <a:latin typeface="Nunito Sans"/>
              </a:rPr>
              <a:t>Owner  Maya Chen</a:t>
            </a:r>
            <a:endParaRPr lang="en-US"/>
          </a:p>
          <a:p>
            <a:pPr>
              <a:lnSpc>
                <a:spcPct val="112000"/>
              </a:lnSpc>
              <a:buNone/>
            </a:pPr>
            <a:r>
              <a:rPr lang="en-US" sz="1800" b="0">
                <a:solidFill>
                  <a:srgbClr val="25212E"/>
                </a:solidFill>
                <a:latin typeface="Nunito Sans"/>
              </a:rPr>
              <a:t>Product &amp; Customer Success</a:t>
            </a:r>
            <a:endParaRPr lang="en-US"/>
          </a:p>
        </p:txBody>
      </p:sp>
      <p:sp>
        <p:nvSpPr>
          <p:cNvPr id="30" name="Text 30"/>
          <p:cNvSpPr txBox="1"/>
          <p:nvPr/>
        </p:nvSpPr>
        <p:spPr>
          <a:xfrm>
            <a:off x="594360" y="63550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12000"/>
              </a:lnSpc>
              <a:buNone/>
            </a:pPr>
            <a:r>
              <a:rPr lang="en-US" sz="1000" b="0">
                <a:solidFill>
                  <a:srgbClr val="696272"/>
                </a:solidFill>
                <a:latin typeface="Nunito Sans"/>
              </a:rPr>
              <a:t>Northstar  ·  Synthetic demo content                                                4 / 4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rthstar">
  <a:themeElements>
    <a:clrScheme name="Northstar">
      <a:dk1>
        <a:srgbClr val="25212E"/>
      </a:dk1>
      <a:lt1>
        <a:srgbClr val="FFFFFF"/>
      </a:lt1>
      <a:dk2>
        <a:srgbClr val="2B165E"/>
      </a:dk2>
      <a:lt2>
        <a:srgbClr val="F5F2FA"/>
      </a:lt2>
      <a:accent1>
        <a:srgbClr val="2B165E"/>
      </a:accent1>
      <a:accent2>
        <a:srgbClr val="8F6BBB"/>
      </a:accent2>
      <a:accent3>
        <a:srgbClr val="3E8B72"/>
      </a:accent3>
      <a:accent4>
        <a:srgbClr val="CC9149"/>
      </a:accent4>
      <a:accent5>
        <a:srgbClr val="477FA7"/>
      </a:accent5>
      <a:accent6>
        <a:srgbClr val="C77291"/>
      </a:accent6>
      <a:hlink>
        <a:srgbClr val="2B165E"/>
      </a:hlink>
      <a:folHlink>
        <a:srgbClr val="755496"/>
      </a:folHlink>
    </a:clrScheme>
    <a:fontScheme name="Nunito Sans">
      <a:majorFont>
        <a:latin typeface="Nunito Sans"/>
        <a:ea typeface=""/>
        <a:cs typeface=""/>
      </a:majorFont>
      <a:minorFont>
        <a:latin typeface="Nunito Sans"/>
        <a:ea typeface=""/>
        <a:cs typeface=""/>
      </a:minorFont>
    </a:fontScheme>
    <a:fmtScheme name="Northsta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Northstar kickoff</dc:title>
  <dc:creator>Sarj Wiki demo</dc:creator>
  <dc:description>Original synthetic content. People, dates and figures are fictional.</dc:description>
  <cp:lastModifiedBy>Sarj Wiki demo</cp:lastModifiedBy>
  <dcterms:created xsi:type="dcterms:W3CDTF">2026-10-27T12:00:00Z</dcterms:created>
  <dcterms:modified xsi:type="dcterms:W3CDTF">2026-10-27T12:00:00Z</dcterms:modified>
</cp:coreProperties>
</file>